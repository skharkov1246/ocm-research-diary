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7323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7323F"/>
                </a:solidFill>
                <a:latin typeface="Calibri"/>
              </a:rPr>
              <a:t>EBITDA по сценариям, $M/год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EBITDA по сценариям, $M/год</c:v>
                </c:pt>
              </c:strCache>
            </c:strRef>
          </c:tx>
          <c:spPr>
            <a:solidFill>
              <a:srgbClr val="C97B4A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7323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Гейт провален (сырая сажа)</c:v>
                  </c:pt>
                  <c:pt idx="1">
                    <c:v>База (70% CB $1200)</c:v>
                  </c:pt>
                  <c:pt idx="2">
                    <c:v>Оптимизм (90% CB $1600)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-5.3</c:v>
                </c:pt>
                <c:pt idx="1">
                  <c:v>53.4</c:v>
                </c:pt>
                <c:pt idx="2">
                  <c:v>280.1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17323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7323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7323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7323F"/>
                </a:solidFill>
                <a:latin typeface="Calibri"/>
              </a:rPr>
              <a:t>Судьба тонны серы, $/т S (база)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Судьба тонны серы, $/т S (база)</c:v>
                </c:pt>
              </c:strCache>
            </c:strRef>
          </c:tx>
          <c:spPr>
            <a:solidFill>
              <a:srgbClr val="C97B4A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7323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Гипс (нейтрализация)</c:v>
                  </c:pt>
                  <c:pt idx="1">
                    <c:v>MSA (3 скида)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-55</c:v>
                </c:pt>
                <c:pt idx="1">
                  <c:v>4144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17323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7323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A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7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MatterForge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22960" y="19202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Предложение для «Норникеля»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33832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Стренд-газ Таймыра и сера как сырьё: пиролиз с сажей на СМП, MSA из Серной программы — и честный отрицательный результат по анодам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53949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Дисциплина честности: каждое число — из расчёта или явно помечено как допущение. 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9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Экономика — скрининг ±2–3×. Мы показываем и то, что у нас НЕ сработало.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630936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Июль 2026 · открытый репозиторий: skharkov1246.github.io/ocm-research-diary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Метод и почему нашим числам можно верить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конвейер: DFT → CASSCF/NEVPT2 → квантовые схемы; проверен на системах с известным экспериментальным ответом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84048" cy="384048"/>
          </a:xfrm>
          <a:prstGeom prst="ellipse">
            <a:avLst/>
          </a:prstGeom>
          <a:solidFill>
            <a:srgbClr val="C97B4A"/>
          </a:solidFill>
          <a:ln w="12700">
            <a:solidFill>
              <a:srgbClr val="C97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Дескриптор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258568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барьеры и селективность активного центра, не «интересное вообще»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01568" y="1417320"/>
            <a:ext cx="384048" cy="384048"/>
          </a:xfrm>
          <a:prstGeom prst="ellipse">
            <a:avLst/>
          </a:prstGeom>
          <a:solidFill>
            <a:srgbClr val="C97B4A"/>
          </a:solidFill>
          <a:ln w="12700">
            <a:solidFill>
              <a:srgbClr val="C97B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01568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01568" y="19202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Классика (DFT)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01568" y="2258568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быстрый скрининг — но у 3d-металлов врёт на ±0.2–0.3 эВ и теряет знак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54496" y="1417320"/>
            <a:ext cx="384048" cy="384048"/>
          </a:xfrm>
          <a:prstGeom prst="ellipse">
            <a:avLst/>
          </a:prstGeom>
          <a:solidFill>
            <a:srgbClr val="C97B4A"/>
          </a:solidFill>
          <a:ln w="12700">
            <a:solidFill>
              <a:srgbClr val="C97B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54496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54496" y="19202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Квантовая поправка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54496" y="2258568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CASSCF/NEVPT2 + VQE-мосты; сверка с экспериментом (Дорожка B)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07424" y="1417320"/>
            <a:ext cx="384048" cy="384048"/>
          </a:xfrm>
          <a:prstGeom prst="ellipse">
            <a:avLst/>
          </a:prstGeom>
          <a:solidFill>
            <a:srgbClr val="C97B4A"/>
          </a:solidFill>
          <a:ln w="12700">
            <a:solidFill>
              <a:srgbClr val="C97B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07424" y="19202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Экономика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07424" y="2258568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рычаг доведён до $/т с явной цепочкой допущений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11064240" cy="2697480"/>
          </a:xfrm>
          <a:prstGeom prst="roundRect">
            <a:avLst>
              <a:gd name="adj" fmla="val 2712"/>
            </a:avLst>
          </a:prstGeom>
          <a:solidFill>
            <a:srgbClr val="EAF3F7"/>
          </a:solidFill>
          <a:ln w="12700">
            <a:solidFill>
              <a:srgbClr val="EAF3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703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«Мираж-детектор»: наш конвейер убивает собственные сенсации ДО того, как они попадут к вам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2960" y="416052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17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Сняли собственную «сенсацию» Ti +4.18 ккал/моль (артефакт сетки) — за одну ночь, до патента</a:t>
            </a:r>
            <a:endParaRPr lang="en-US" sz="1250" dirty="0"/>
          </a:p>
          <a:p>
            <a:pPr algn="l" marL="152400" indent="-152400">
              <a:lnSpc>
                <a:spcPct val="104000"/>
              </a:lnSpc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17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Закрыли красивейший сценарий «уксусная кислота из CH₄+CO₂» ($3.7–4.4M/год на установку) собственным NEVPT2-расчётом — распад радикала в 18 раз быстрее роста цепи</a:t>
            </a:r>
            <a:endParaRPr lang="en-US" sz="1250" dirty="0"/>
          </a:p>
          <a:p>
            <a:pPr algn="l" marL="152400" indent="-152400">
              <a:lnSpc>
                <a:spcPct val="104000"/>
              </a:lnSpc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17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Поймали мираж «водород с устья скважины» (6.9× майнинга) — H₂ без трубы не уезжает; в моделях этого нет</a:t>
            </a:r>
            <a:endParaRPr lang="en-US" sz="1250" dirty="0"/>
          </a:p>
          <a:p>
            <a:pPr algn="l" marL="152400" indent="-152400">
              <a:lnSpc>
                <a:spcPct val="104000"/>
              </a:lnSpc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17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Валидация на известном: спин S=2 центра Fe(IV)=O воспроизведён на реальном цеолитном каркасе; NEVPT2-барьер HAT попал в эксперимент (15.98 против 13–15 ккал/моль) там, где DFT врёт на 7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MatterForge · скрининг ±2–3×, не bankable-модель ·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Резюме: два коммерческих кейса, одно честное «нет» и два R&amp;D-трека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Базовые сценарии параметрических моделей; данные «Норникеля» — диапазоны «проверить»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93592" cy="2286000"/>
          </a:xfrm>
          <a:prstGeom prst="roundRect">
            <a:avLst>
              <a:gd name="adj" fmla="val 3200"/>
            </a:avLst>
          </a:prstGeom>
          <a:solidFill>
            <a:srgbClr val="EAF3F7"/>
          </a:solidFill>
          <a:ln w="12700">
            <a:solidFill>
              <a:srgbClr val="EAF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27048"/>
            <a:ext cx="3227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7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$53M/год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203704"/>
            <a:ext cx="3227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 · Пиролиз стренд-газа + СМП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044952"/>
            <a:ext cx="3227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базы (150 млн м³/год избытка); NPV +$204M; вся маржа за гейтом качества сажи — и гейт наш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88536" y="1417320"/>
            <a:ext cx="3593592" cy="2286000"/>
          </a:xfrm>
          <a:prstGeom prst="roundRect">
            <a:avLst>
              <a:gd name="adj" fmla="val 3200"/>
            </a:avLst>
          </a:prstGeom>
          <a:solidFill>
            <a:srgbClr val="EAF3F7"/>
          </a:solidFill>
          <a:ln w="12700">
            <a:solidFill>
              <a:srgbClr val="EAF3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71416" y="1527048"/>
            <a:ext cx="3227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7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$4.5M/год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471416" y="2203704"/>
            <a:ext cx="3227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 · MSA из Серной программы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71416" y="3044952"/>
            <a:ext cx="3227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скида, окупаемость 3.0 года; тонна серы: −$55 в гипсе против +$4 144 в MSA — на нишевом срезе потока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28432" y="1417320"/>
            <a:ext cx="3593592" cy="2286000"/>
          </a:xfrm>
          <a:prstGeom prst="roundRect">
            <a:avLst>
              <a:gd name="adj" fmla="val 3200"/>
            </a:avLst>
          </a:prstGeom>
          <a:solidFill>
            <a:srgbClr val="EAF3F7"/>
          </a:solidFill>
          <a:ln w="12700">
            <a:solidFill>
              <a:srgbClr val="EAF3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11312" y="1527048"/>
            <a:ext cx="3227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7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≤$390/м²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211312" y="2203704"/>
            <a:ext cx="3227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 · Анод: честный негатив → ТЗ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11312" y="3044952"/>
            <a:ext cx="3227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Энергоэкономия анода в базе НЕ окупает парк; кейс жив только при покрытии дешевле $280–390/м² — это ТЗ нашему треку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4023360"/>
            <a:ext cx="11064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7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Норильск — чистейший в РФ случай stranded gas: газ есть, трубы нет, СМП есть; фильтр логистики «твёрдое или жидкое &gt;$1 500/т» даёт сажу и MSA</a:t>
            </a:r>
            <a:endParaRPr lang="en-US" sz="1350" dirty="0"/>
          </a:p>
          <a:p>
            <a:pPr algn="l" marL="152400" indent="-152400">
              <a:lnSpc>
                <a:spcPct val="104000"/>
              </a:lnSpc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7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R&amp;D-опционы: катодные материалы (вклад корреляции +0.32 эВ — больше порога 0.2 В, убивающего DFT-скрининг) и Fe–Ni–S кластеры сульфидных руд — прямой перенос нашей FeMoco-компетенции</a:t>
            </a:r>
            <a:endParaRPr lang="en-US" sz="1350" dirty="0"/>
          </a:p>
          <a:p>
            <a:pPr algn="l" marL="152400" indent="-152400">
              <a:lnSpc>
                <a:spcPct val="104000"/>
              </a:lnSpc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7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показываем и мёртвые сценарии с числами: доверие к плюсам покупается минусами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MatterForge · скрининг ±2–3×, не bankable-модель ·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N3 · Пиролиз стренд-газа: сажа на экспорт, водород на месте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млн м³/год избытка → 26.8 кт H₂ (в энергетику Норильска) + 81 кт углерода (Дудинка → СМП)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53949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263640" y="1371600"/>
            <a:ext cx="5349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7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База: капекс $159M (арктический ×1.6), окупаемость 3.0 года, NPV (12%, 15 лет) +$204M</a:t>
            </a:r>
            <a:endParaRPr lang="en-US" sz="1200" dirty="0"/>
          </a:p>
          <a:p>
            <a:pPr algn="l" marL="152400" indent="-152400">
              <a:lnSpc>
                <a:spcPct val="104000"/>
              </a:lnSpc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7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Вся маржа — в качестве углерода: carbon black $1 200–2 000/т против сырой сажи $200–400/т, не проходящей даже майнинг-порог $751/т</a:t>
            </a:r>
            <a:endParaRPr lang="en-US" sz="1200" dirty="0"/>
          </a:p>
          <a:p>
            <a:pPr algn="l" marL="152400" indent="-152400">
              <a:lnSpc>
                <a:spcPct val="104000"/>
              </a:lnSpc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7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Гейт качества — наше IP: соляной слой NaCl, чистота 83 → &lt;0.1 wt% металла + NEVPT2-выбор некоксующегося сплава (Cu-Bi)</a:t>
            </a:r>
            <a:endParaRPr lang="en-US" sz="1200" dirty="0"/>
          </a:p>
          <a:p>
            <a:pPr algn="l" marL="152400" indent="-152400">
              <a:lnSpc>
                <a:spcPct val="104000"/>
              </a:lnSpc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7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продаёт 57 кт CB/год ≈ 6% рынка РФ — без давления на цену; оптимизм требует экспорта в Азию по СМП (стресс $800/т: EBITDA $126M, NPV $612M)</a:t>
            </a:r>
            <a:endParaRPr lang="en-US" sz="1200" dirty="0"/>
          </a:p>
          <a:p>
            <a:pPr algn="l" marL="152400" indent="-152400">
              <a:lnSpc>
                <a:spcPct val="104000"/>
              </a:lnSpc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7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 не экспортируется (урок «миража 6.9×»): замещение газа в энергетике + опция металлургии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4480560"/>
            <a:ext cx="1106424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5875">
            <a:solidFill>
              <a:srgbClr val="C97B4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455371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KILL-КРИТЕРИИ (объявлены заранее)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1520" y="4846320"/>
            <a:ext cx="10698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17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сажи не подтверждено пилотом → мёртв даже при дешёвой логистике (NPV −$141M, посчитано)</a:t>
            </a:r>
            <a:endParaRPr lang="en-US" sz="1100" dirty="0"/>
          </a:p>
          <a:p>
            <a:pPr algn="l" marL="152400" indent="-152400">
              <a:lnSpc>
                <a:spcPct val="104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17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ни 44 МВт на электрификацию, ни газа на огневой обогрев (+15–38 млн м³/год) — теплоснабжение реактора не сходится</a:t>
            </a:r>
            <a:endParaRPr lang="en-US" sz="1100" dirty="0"/>
          </a:p>
          <a:p>
            <a:pPr algn="l" marL="152400" indent="-152400">
              <a:lnSpc>
                <a:spcPct val="104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17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Избыток газа &lt; 30 млн м³/год — масштаб не тянет арктический капекс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MatterForge · скрининг ±2–3×, не bankable-модель ·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N3 · Механика и логистика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Модульные трейны у площадки Норильскгазпрома · продукт пакуется в биг-бэги · вывоз существующим плечом Дудинка → СМП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47472" cy="347472"/>
          </a:xfrm>
          <a:prstGeom prst="ellipse">
            <a:avLst/>
          </a:prstGeom>
          <a:solidFill>
            <a:srgbClr val="C97B4A"/>
          </a:solidFill>
          <a:ln w="12700">
            <a:solidFill>
              <a:srgbClr val="C97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99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362456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 газа, осушка/очистка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417320"/>
            <a:ext cx="347472" cy="347472"/>
          </a:xfrm>
          <a:prstGeom prst="ellipse">
            <a:avLst/>
          </a:prstGeom>
          <a:solidFill>
            <a:srgbClr val="C97B4A"/>
          </a:solidFill>
          <a:ln w="12700">
            <a:solidFill>
              <a:srgbClr val="C97B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1399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1362456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Расплавный пиролиз-реактор (соляной слой NaCl поверх сплава)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417320"/>
            <a:ext cx="347472" cy="347472"/>
          </a:xfrm>
          <a:prstGeom prst="ellipse">
            <a:avLst/>
          </a:prstGeom>
          <a:solidFill>
            <a:srgbClr val="C97B4A"/>
          </a:solidFill>
          <a:ln w="12700">
            <a:solidFill>
              <a:srgbClr val="C97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1399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03920" y="1362456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Сепарация углерода от расплава, отмывка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697480"/>
            <a:ext cx="347472" cy="347472"/>
          </a:xfrm>
          <a:prstGeom prst="ellipse">
            <a:avLst/>
          </a:prstGeom>
          <a:solidFill>
            <a:srgbClr val="C97B4A"/>
          </a:solidFill>
          <a:ln w="12700">
            <a:solidFill>
              <a:srgbClr val="C97B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679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2642616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Классификация/гранулирование сажи, биг-бэги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97680" y="2697480"/>
            <a:ext cx="347472" cy="347472"/>
          </a:xfrm>
          <a:prstGeom prst="ellipse">
            <a:avLst/>
          </a:prstGeom>
          <a:solidFill>
            <a:srgbClr val="C97B4A"/>
          </a:solidFill>
          <a:ln w="12700">
            <a:solidFill>
              <a:srgbClr val="C97B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2679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54880" y="2642616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 — в газовую сеть энергетики (замещение)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46720" y="2697480"/>
            <a:ext cx="347472" cy="347472"/>
          </a:xfrm>
          <a:prstGeom prst="ellipse">
            <a:avLst/>
          </a:prstGeom>
          <a:solidFill>
            <a:srgbClr val="C97B4A"/>
          </a:solidFill>
          <a:ln w="12700">
            <a:solidFill>
              <a:srgbClr val="C97B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0" y="2679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03920" y="2642616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Склад → Дудинка → СМП (обратная загрузка)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069080"/>
            <a:ext cx="11064240" cy="2194560"/>
          </a:xfrm>
          <a:prstGeom prst="roundRect">
            <a:avLst>
              <a:gd name="adj" fmla="val 3333"/>
            </a:avLst>
          </a:prstGeom>
          <a:solidFill>
            <a:srgbClr val="EAF3F7"/>
          </a:solidFill>
          <a:ln w="12700">
            <a:solidFill>
              <a:srgbClr val="EAF3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2062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Развёртывание и гейты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4572000"/>
            <a:ext cx="10607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7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1 (6–9 мес): верификация избытка газа и свободной мощности с вашими данными; лабораторный гейт качества сажи на нашем соляном контуре</a:t>
            </a:r>
            <a:endParaRPr lang="en-US" sz="1200" dirty="0"/>
          </a:p>
          <a:p>
            <a:pPr algn="l" marL="152400" indent="-152400">
              <a:lnSpc>
                <a:spcPct val="104000"/>
              </a:lnSpc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7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2 (12–18 мес): пилотный модуль 5–10 млн м³/год у Норильскгазпрома; сертификация сажи у шинников/резинщиков — ключевой гейт всей экономики</a:t>
            </a:r>
            <a:endParaRPr lang="en-US" sz="1200" dirty="0"/>
          </a:p>
          <a:p>
            <a:pPr algn="l" marL="152400" indent="-152400">
              <a:lnSpc>
                <a:spcPct val="104000"/>
              </a:lnSpc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7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3: серийные трейны до 150 млн м³/год; контракт СМП с обратной загрузкой; опция экспорта в Азию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MatterForge · скрининг ±2–3×, не bankable-модель ·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N2 · MSA: тонна серы из пассива в продукт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Метансульфоновая кислота (CH₄ + SO₃): жидкость $2 650/т в обычном химтанк-контейнере, газонезависимая маржа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53949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263640" y="1371600"/>
            <a:ext cx="5349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7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База: 3 скида × 1.1 кт/год; full cost $1 130/т + СМП $140 → маржа $1 380/т; EBITDA $4.53M/год; окупаемость 3.0 года</a:t>
            </a:r>
            <a:endParaRPr lang="en-US" sz="1200" dirty="0"/>
          </a:p>
          <a:p>
            <a:pPr algn="l" marL="152400" indent="-152400">
              <a:lnSpc>
                <a:spcPct val="104000"/>
              </a:lnSpc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7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Живёт во всех трёх сценариях, включая пессимизм (маржа $1 151/т)</a:t>
            </a:r>
            <a:endParaRPr lang="en-US" sz="1200" dirty="0"/>
          </a:p>
          <a:p>
            <a:pPr algn="l" marL="152400" indent="-152400">
              <a:lnSpc>
                <a:spcPct val="104000"/>
              </a:lnSpc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7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Сюрприз модели: цена серы — слабая ручка (даже −$50…+$150/т почти не двигает кост); главные ручки — цена MSA и логистика</a:t>
            </a:r>
            <a:endParaRPr lang="en-US" sz="1200" dirty="0"/>
          </a:p>
          <a:p>
            <a:pPr algn="l" marL="152400" indent="-152400">
              <a:lnSpc>
                <a:spcPct val="104000"/>
              </a:lnSpc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7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Upside за гейтом G1: конверсия 20% → full cost $347/т, EBITDA $18M с одного скида — но это уже 12–17% мирового рынка</a:t>
            </a:r>
            <a:endParaRPr lang="en-US" sz="1200" dirty="0"/>
          </a:p>
          <a:p>
            <a:pPr algn="l" marL="152400" indent="-152400">
              <a:lnSpc>
                <a:spcPct val="104000"/>
              </a:lnSpc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7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Квантовое ядро посчитано: NEVPT2-цепь жива (рост цепи быстрее распада на Δ=8.5 ккал/моль); инициатор — персульфат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4480560"/>
            <a:ext cx="1106424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5875">
            <a:solidFill>
              <a:srgbClr val="C97B4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59028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ЧЕСТНЫЙ ПОТОЛОК — говорим сразу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4919472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7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MSA утилизирует 0.03–0.65% серного потока — заголовок «MSA спасает Серную программу» был бы ложью; 99%+ серы по-прежнему в гипс</a:t>
            </a:r>
            <a:endParaRPr lang="en-US" sz="1150" dirty="0"/>
          </a:p>
          <a:p>
            <a:pPr algn="l" marL="152400" indent="-152400">
              <a:lnSpc>
                <a:spcPct val="104000"/>
              </a:lnSpc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7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Мировой рынок 50–70 кт/год: 3 скида ≈ 5–7% рынка (комфорт), 6 скидов ≈ 9–13% (цена поедет). Kill: цена MSA &lt;$1 500/т; СМП &gt;$400/т; запрет SO₃-узла</a:t>
            </a:r>
            <a:endParaRPr lang="en-US" sz="1150" dirty="0"/>
          </a:p>
          <a:p>
            <a:pPr algn="l" marL="152400" indent="-152400">
              <a:lnSpc>
                <a:spcPct val="104000"/>
              </a:lnSpc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7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Смысл кейса: маржа на нише + арктическая витрина платформы, а не экология масштаба мегатонн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MatterForge · скрининг ±2–3×, не bankable-модель ·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3A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N1 · Анод электролиза: мы убили собственную «сенсацию» — и это ценно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7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Стехиометрия красивая: −100 мВ на аноде = −91 кВт·ч/т Ni. Но детальная модель показала: денег в базе нет.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E62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1031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97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$1.47M/год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49808" y="274320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вся энергоэкономия базы (−200 мВ, доля электроэкстракции 50%) — энергия Норильска и Колы слишком дешёвая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97680" y="19202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E62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98848" y="21031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97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$278M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4498848" y="274320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замена анодного парка по рыночным ценам каталитических анодов $1–3k/м² — валовая окупаемость ~189 лет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46720" y="19202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E62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47888" y="21031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97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≤$280–390/м²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8247888" y="274320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breakeven-цена покрытия, при которой кейс оживает (жизнь ≥5 лет, −200…−300 мВ) — «почти по цене свинца»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4343400"/>
            <a:ext cx="11064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E8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Рычаг работает только на электроэкстракции — у электрорафинирования анодная реакция другая; доля EW 30–70% [проверить у вас]</a:t>
            </a:r>
            <a:endParaRPr lang="en-US" sz="1250" dirty="0"/>
          </a:p>
          <a:p>
            <a:pPr algn="l"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E8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мы делаем с этим: превращаем негатив в ТЗ — дизайн НЕблагородного OER-покрытия для сульфатной кислой среды с целевой ценой ≤$390/м²; расчётная лестница уже валидирована в щёлочи (η = 0.435 В — попадание в диапазон реальных NiOₓ)</a:t>
            </a:r>
            <a:endParaRPr lang="en-US" sz="1250" dirty="0"/>
          </a:p>
          <a:p>
            <a:pPr algn="l"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E8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Побочные выгоды (меньше Pb в катоде, стабильность, кислотный туман) не монетизированы — если у вас они стоят денег, скажите, пересчитаем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MatterForge · скрининг ±2–3×, не bankable-модель ·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R&amp;D-опционы: батарейная вертикаль и химия ваших собственных руд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трека, где ваша стратегия и наша компетенция совпадают дословно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40680" cy="4846320"/>
          </a:xfrm>
          <a:prstGeom prst="roundRect">
            <a:avLst>
              <a:gd name="adj" fmla="val 1509"/>
            </a:avLst>
          </a:prstGeom>
          <a:solidFill>
            <a:srgbClr val="EAF3F7"/>
          </a:solidFill>
          <a:ln w="12700">
            <a:solidFill>
              <a:srgbClr val="EAF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361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N4 · Катодные материалы (Ni/Co → CAM)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5029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17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 результат: вклад электронной корреляции в напряжение Ni³⁺→Ni⁴⁺ = +0.32 эВ — больше порога 0.2 В, при котором DFT+U-скрининг катодов перестаёт работать</a:t>
            </a:r>
            <a:endParaRPr lang="en-US" sz="1200" dirty="0"/>
          </a:p>
          <a:p>
            <a:pPr algn="l"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17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Спиновая щель меняет знак с размером расчётного окна — абсолютный дизайн 5V-катодов классикой ненадёжен</a:t>
            </a:r>
            <a:endParaRPr lang="en-US" sz="1200" dirty="0"/>
          </a:p>
          <a:p>
            <a:pPr algn="l"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17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Честно: сегодня это диагностика и де-рискинг трендов, не готовый дизайн; полная задача = 46 кубитов (квантовое железо 2029+)</a:t>
            </a:r>
            <a:endParaRPr lang="en-US" sz="1200" dirty="0"/>
          </a:p>
          <a:p>
            <a:pPr algn="l"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17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Формат: совместная методическая программа с вашим батарейным направлением — кто первым получит инструмент точнее ±0.2 В, тот выигрывает дизайн катодов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371600"/>
            <a:ext cx="5440680" cy="4846320"/>
          </a:xfrm>
          <a:prstGeom prst="roundRect">
            <a:avLst>
              <a:gd name="adj" fmla="val 1509"/>
            </a:avLst>
          </a:prstGeom>
          <a:solidFill>
            <a:srgbClr val="EAF3F7"/>
          </a:solidFill>
          <a:ln w="12700">
            <a:solidFill>
              <a:srgbClr val="EAF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5361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N6 · Fe–Ni–S кластеры: пентландит = наш кубан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0" y="1965960"/>
            <a:ext cx="5029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17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Ваши руды (пентландит, пирротин) химически — те же Fe–S кубаны, на которых мы пробили стену сходимости в аммиачном треке (BS-UNO → CASSCF)</a:t>
            </a:r>
            <a:endParaRPr lang="en-US" sz="1200" dirty="0"/>
          </a:p>
          <a:p>
            <a:pPr algn="l"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17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Там, где решает спиновая структура, DFT теряет даже знак магнитной связи (разброс 885 см⁻¹ между функционалами — наше число)</a:t>
            </a:r>
            <a:endParaRPr lang="en-US" sz="1200" dirty="0"/>
          </a:p>
          <a:p>
            <a:pPr algn="l"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17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Приложения: селективность флотореагентов, окисление сульфидов, выщелачивание</a:t>
            </a:r>
            <a:endParaRPr lang="en-US" sz="1200" dirty="0"/>
          </a:p>
          <a:p>
            <a:pPr algn="l"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17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Честно: расчётов по вашим минералам пока ноль — это предложение нового трека с готовым конвейером, а не результат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MatterForge · скрининг ±2–3×, не bankable-модель ·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3A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Чего мы НЕ предлагаем «Норникелю»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FC7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Честность — механизм доверия к остальным числам. Эти варианты мы просчитали и закрыли сами.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32688"/>
          </a:xfrm>
          <a:prstGeom prst="roundRect">
            <a:avLst>
              <a:gd name="adj" fmla="val 588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97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«MSA решит Серную программу»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97680" y="1874520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решит: ниша поглощает доли процента серного потока. Предлагаем маржу на срезе, а не экологию мегатонн.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862072"/>
            <a:ext cx="11064240" cy="932688"/>
          </a:xfrm>
          <a:prstGeom prst="roundRect">
            <a:avLst>
              <a:gd name="adj" fmla="val 588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97B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953512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Анодный ретрофит «как есть»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0" y="2953512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рыночным ценам анодов кейс мёртв (окупаемость ~189 лет) — сначала дешёвое покрытие, потом разговор о парке.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941064"/>
            <a:ext cx="11064240" cy="932688"/>
          </a:xfrm>
          <a:prstGeom prst="roundRect">
            <a:avLst>
              <a:gd name="adj" fmla="val 588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97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032504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«Аммиак из воздуха» сейчас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97680" y="4032504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 собственный кластерный негатив: водород выигрывает у азота на всех просчитанных сплавах. Дальний R&amp;D.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5020056"/>
            <a:ext cx="11064240" cy="932688"/>
          </a:xfrm>
          <a:prstGeom prst="roundRect">
            <a:avLst>
              <a:gd name="adj" fmla="val 588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97B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111496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CO₂-топлива как экономику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97680" y="5111496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Квантовый edge на меди объективно схлопнулся (наш же расчёт); полевой рычаг — R&amp;D-опцион, не бизнес-кейс.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MatterForge · скрининг ±2–3×, не bankable-модель ·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Дорожная карта 24 месяцев и что нам нужно от вас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этап заканчивается проверяемым гейтом; мёртвые ветки закрываем публично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C97B4A"/>
          </a:solidFill>
          <a:ln w="12700">
            <a:solidFill>
              <a:srgbClr val="C97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 0–3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331720" y="1417320"/>
            <a:ext cx="9235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NDA, данные по газу/сере/электролизу; уточнение всех моделей с ваших цифр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C97B4A"/>
          </a:solidFill>
          <a:ln w="12700">
            <a:solidFill>
              <a:srgbClr val="C97B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945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 3–9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31720" y="2194560"/>
            <a:ext cx="9235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Лабораторный гейт качества сажи (соляной контур); FEED узла отбора SO₃ для MSA; расчёт OER-лестницы в сульфатной среде (ТЗ ≤$390/м²)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C97B4A"/>
          </a:solidFill>
          <a:ln w="12700">
            <a:solidFill>
              <a:srgbClr val="C97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9718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 9–21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31720" y="2971800"/>
            <a:ext cx="9235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Пилотный пиролиз-модуль 5–10 млн м³/год; пилотный MSA-скид на площадке Серной программы; старт Fe–Ni–S трека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C97B4A"/>
          </a:solidFill>
          <a:ln w="12700">
            <a:solidFill>
              <a:srgbClr val="C97B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749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 21–24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331720" y="3749040"/>
            <a:ext cx="9235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Решения о серии: трейны N3 до 150 млн м³/год; 3 MSA-скида; методическая программа CAM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EAF3F7"/>
          </a:solidFill>
          <a:ln w="12700">
            <a:solidFill>
              <a:srgbClr val="EAF3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8463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Данные, которые превратят допущения в числа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77240" y="521208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4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7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Баланс газа Норильскгазпрома и реальный избыток · свободная электрическая мощность · тарифы СМП/Дудинка и обратная загрузка</a:t>
            </a:r>
            <a:endParaRPr lang="en-US" sz="1200" dirty="0"/>
          </a:p>
          <a:p>
            <a:pPr algn="l" marL="152400" indent="-152400">
              <a:lnSpc>
                <a:spcPct val="104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7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 и опекс Серной программы, разрешительная база SO₃ · доли электроэкстракции и напряжения ячеек по площадкам · статус батарейной стратегии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MatterForge · скрининг ±2–3×, не bankable-модель ·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2026-07-25T14:27:56Z</dcterms:created>
  <dcterms:modified xsi:type="dcterms:W3CDTF">2026-07-25T14:27:56Z</dcterms:modified>
</cp:coreProperties>
</file>